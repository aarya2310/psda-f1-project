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059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1  ·  ANALYTICS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10515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Pace, Tyre Degradation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Pit Strategy Analysis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 —  Group Presentation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561320" y="502920"/>
            <a:ext cx="914400" cy="9144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776" y="72237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3333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73258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4224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Pace vs. Degradation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5902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lap times evolve as tyres wear down within a stint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43400" y="3611880"/>
            <a:ext cx="502920" cy="5029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101" y="373258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343400" y="4224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 Stop Efficiency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4343400" y="45902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seconds gained or lost in the pits shift track position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3611880"/>
            <a:ext cx="502920" cy="5029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373258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46720" y="42245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Qualifying vs. Race Reality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046720" y="459028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starting on pole actually guarantee the win?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33333E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40080" y="61447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Aarya  ·  Pratik  ·  Dev 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Ergast F1 Historical Database (2011 – Present)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Scope — Why We Start at 2011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Ergast dataset technically goes back to 1950 — but our dashboard deliberately narrows the scope. Here's the reasoning behind that decision: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9436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historical results exist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lap-by-lap timing data at all. Impossible to analyze degradation or pit strategy — the whole point of the project — for 60+ years of the dataset.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1996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per-lap timing begins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429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real but patchy through the late 90s / 2000s. Some driver-race combinations have gaps, so KPI cards randomly show blank values.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9244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FF3F2"/>
          </a:solidFill>
          <a:ln w="25400">
            <a:solidFill>
              <a:srgbClr val="E10600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2104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10835640" y="2258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236829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3210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1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chosen cutoff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34290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lap &amp; pit data for every driver. Also the start of Pirelli's high-degradation tyre era — exactly the phenomenon this project studies.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9436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2011 isn't an arbitrary number — it's the year tyre strategy became the deciding factor in races, which is the exact story this dashboard tells.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 — Star Schema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32588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EAF1FF"/>
          </a:solidFill>
          <a:ln w="17780">
            <a:solidFill>
              <a:srgbClr val="3D6FB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(DIM)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09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driverId (PK)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Driver_Full_Name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749040" y="1325880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EAF1FF"/>
          </a:solidFill>
          <a:ln w="17780">
            <a:solidFill>
              <a:srgbClr val="3D6FB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86200" y="1399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(DIM)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886200" y="170992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 (PK)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Gp Label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" y="329184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 w="17780">
            <a:solidFill>
              <a:srgbClr val="C97A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3649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lap_times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67588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raceId, driverId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In Stint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651760" y="3291840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 w="17780">
            <a:solidFill>
              <a:srgbClr val="C97A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788920" y="33649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pit_stops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3675888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raceId, driverId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PitSeconds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09160" y="3291840"/>
            <a:ext cx="1920240" cy="1371600"/>
          </a:xfrm>
          <a:prstGeom prst="roundRect">
            <a:avLst>
              <a:gd name="adj" fmla="val 4000"/>
            </a:avLst>
          </a:prstGeom>
          <a:solidFill>
            <a:srgbClr val="FFF0E0"/>
          </a:solidFill>
          <a:ln w="17780">
            <a:solidFill>
              <a:srgbClr val="C97A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3364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675888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raceId, driverId</a:t>
            </a:r>
            <a:endParaRPr lang="en-US" sz="9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grid, positionOrder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143000" y="2377440"/>
            <a:ext cx="36576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691640" y="2377440"/>
            <a:ext cx="192024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2057400" y="2377440"/>
            <a:ext cx="365760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2240280" y="2377440"/>
            <a:ext cx="219456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H="1">
            <a:off x="3611880" y="2377440"/>
            <a:ext cx="155448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715000" y="2377440"/>
            <a:ext cx="0" cy="914400"/>
          </a:xfrm>
          <a:prstGeom prst="line">
            <a:avLst/>
          </a:prstGeom>
          <a:noFill/>
          <a:ln w="12700">
            <a:solidFill>
              <a:srgbClr val="9A9AA5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9436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→  *   (one dimension row filters many fact rows)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315200" y="1325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Structure Matters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169164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 tables (drivers, races) connect out to three fact tables. Picking one driver in a slicer instantly filters lap times, pit stops, and results all at once.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Highlights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315200" y="3273552"/>
            <a:ext cx="73152" cy="73152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516368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LapSeconds / PitSeconds — milliseconds converted to readable seconds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315200" y="3895344"/>
            <a:ext cx="73152" cy="73152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16368" y="37764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Driver_Full_Name — forename + surname combined for slicers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315200" y="4517136"/>
            <a:ext cx="73152" cy="73152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516368" y="4398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Label — “2019 British Grand Prix” style label for the race slicer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315200" y="5138928"/>
            <a:ext cx="73152" cy="73152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516368" y="50200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= 0 replaced with 20 — fixes pit-lane starts skewing the maths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DAX Measures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card and chart on the dashboard is powered by one of these calculations: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0972800" cy="31089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calculated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Lap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of all lap times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single quickest lap of the race.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Representative Pace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laps within 107% of the fastest 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“True” race pace — Safety Car &amp; traffic laps filtered out.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Pit Lane Duration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pit stop durations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efficient a pit crew is, on average.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Positions Gained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AVERAGEX of (grid − finish position)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Places gained (+) or lost (−) per race, on average.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94360" y="5212080"/>
            <a:ext cx="10972800" cy="868680"/>
          </a:xfrm>
          <a:prstGeom prst="roundRect">
            <a:avLst>
              <a:gd name="adj" fmla="val 6316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average, not sum:  </a:t>
            </a:r>
            <a:r>
              <a:rPr lang="en-US" sz="11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Net Positions Gained version summed grid-minus-finish across a whole career, producing a huge, misleading negative number dominated by a few retirements. Averaging it per race makes it small and comparable.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66928" cy="566928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4754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38404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— Reading Each Visual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94360" y="1371600"/>
            <a:ext cx="10972800" cy="795528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659636"/>
            <a:ext cx="219456" cy="219456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6413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4264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Slicers (Year, Grand Prix, Driver)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42646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race — every chart and card below updates instantly.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2304288"/>
            <a:ext cx="10972800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592324"/>
            <a:ext cx="219456" cy="219456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5740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23591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235915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Lap, Avg Pace, Avg Pit Duration, Net Positions Gained — the headline numbers.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" y="3236976"/>
            <a:ext cx="10972800" cy="795528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3525012"/>
            <a:ext cx="219456" cy="219456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350672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2918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 — Pace vs. Tyre Life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663440" y="32918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line = tyres wearing down. A sharp bend = the degradation “cliff.”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" y="4169664"/>
            <a:ext cx="10972800" cy="795528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4457700"/>
            <a:ext cx="219456" cy="219456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22960" y="443941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422452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 — Grid vs. Finish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22452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dot below the diagonal = the driver gained places from where they started.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" y="5102352"/>
            <a:ext cx="10972800" cy="795528"/>
          </a:xfrm>
          <a:prstGeom prst="roundRect">
            <a:avLst>
              <a:gd name="adj" fmla="val 5747"/>
            </a:avLst>
          </a:prstGeom>
          <a:solidFill>
            <a:srgbClr val="F7F7F7"/>
          </a:solidFill>
          <a:ln w="12700">
            <a:solidFill>
              <a:srgbClr val="E4E4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" y="5390388"/>
            <a:ext cx="219456" cy="219456"/>
          </a:xfrm>
          <a:prstGeom prst="ellipse">
            <a:avLst/>
          </a:prstGeom>
          <a:solidFill>
            <a:srgbClr val="E1060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537210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234440" y="515721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 Chart — Pit Crew Comparison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663440" y="5157216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bar = fastest pit crew that race; sorted ascending.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48640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13232"/>
            <a:ext cx="356616" cy="3566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17320" y="56692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06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830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position doesn't guarantee a win — race pace and strategy regularly close the gap, sometimes reversing it entirely.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06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8346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degradation shows up as a clear pace “cliff,” not a gradual slope — performance holds, then drops sharply within a lap or two.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06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38862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1–2 second difference in average pit stop time is enough to decide track position — and, over a season, a championship.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3333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Microsoft Power BI  ·  Power Query  +  Star Schema  +  DAX  +  Interactive Report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6126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06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1183112" y="64739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6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803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Aarya Patel</cp:lastModifiedBy>
  <cp:revision>2</cp:revision>
  <dcterms:created xsi:type="dcterms:W3CDTF">2026-09-19T18:26:08Z</dcterms:created>
  <dcterms:modified xsi:type="dcterms:W3CDTF">2026-09-19T18:29:31Z</dcterms:modified>
</cp:coreProperties>
</file>